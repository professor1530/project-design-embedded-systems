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-53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3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0D761-294A-4773-A543-1AB7150F40E2}" type="datetimeFigureOut">
              <a:rPr lang="en-ZA" smtClean="0"/>
              <a:t>2024/07/20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7E328-A10E-48F3-A909-2F6AC7642F5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631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Input</a:t>
            </a:r>
            <a:r>
              <a:rPr lang="en-ZA" baseline="0" dirty="0"/>
              <a:t> is Zero; Output </a:t>
            </a:r>
            <a:r>
              <a:rPr lang="en-ZA" baseline="0"/>
              <a:t>is 1</a:t>
            </a:r>
            <a:endParaRPr lang="en-ZA" baseline="0" dirty="0"/>
          </a:p>
          <a:p>
            <a:r>
              <a:rPr lang="en-US" dirty="0"/>
              <a:t>https://web.ics.purdue.edu/~jricha14/Port_Stuff/PortB_general.htm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57E328-A10E-48F3-A909-2F6AC7642F52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657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1350-84D2-44BA-A6A0-0FCE8B804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1E170-DFF2-4B1F-8B14-9615BD536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6B80C-ED41-481C-8A89-F4E02D59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5C25-0D81-4F1C-B7E0-7031829CE7EB}" type="datetime1">
              <a:rPr lang="en-ZA" smtClean="0"/>
              <a:t>2024/07/20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FCEFC-A3A7-4BF7-9D93-176286705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16C3E-56C8-45FB-80D6-0737DD47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53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2B1D-D2C4-4A01-9652-A4A8895A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C1521-A70D-4CBB-A3E1-7486A7AD3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0247B-74BB-45ED-B503-0E496D11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7F179-0F2F-4B2C-B1AD-59B1F6A68D62}" type="datetime1">
              <a:rPr lang="en-ZA" smtClean="0"/>
              <a:t>2024/07/20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1D3F5-F2DA-4337-8A07-3CF7638A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3A49-831C-4E70-81E3-8B430846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443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5CCB-66A6-4688-A410-E37380DA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39ABE-7BBC-4687-84F2-1245FD27A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EA1ED-AC1E-4A77-82ED-56A0C61E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61B-5327-4DBE-BA94-AFC6409274D1}" type="datetime1">
              <a:rPr lang="en-ZA" smtClean="0"/>
              <a:t>2024/07/20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C89EB-51DD-48E4-8A29-A334BFDE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BF7E3-6390-45C8-BB64-DAE0A03F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236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407B-B0C0-4E26-A29B-BCCDD09BD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111C-92A3-4013-B87C-0A867C67C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C2410-0DD2-451F-9B21-007BF5586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C58C4-23F7-4F4F-9606-31D2B7BB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9819-9614-4210-B3B7-BB0173E96C66}" type="datetime1">
              <a:rPr lang="en-ZA" smtClean="0"/>
              <a:t>2024/07/20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A0A49-5E40-4F09-8433-A3E03E2A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2697C-537B-42E4-8325-B5D1565A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695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55DC-E359-49D7-B51C-1308AEFD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A80DD-4F7A-4E85-AE6A-4A944357D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2D587-B67D-4326-9F81-4697ECEFA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81A65-21C3-4A58-BDD1-49E3EBBB6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939BA-0785-4B55-9808-F7CD50603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6027C-A43D-4C31-9A2D-C6E34DF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11E4-62D1-44F0-B3BC-45A4CE2BE60A}" type="datetime1">
              <a:rPr lang="en-ZA" smtClean="0"/>
              <a:t>2024/07/20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98540D-4828-4D09-A442-FBAE9302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7B3BB-FA0F-4CEE-827D-D155FC0C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672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3D04-58D6-4654-87A2-21633365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C5078-DB82-428E-8976-358980A3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698A-350F-4431-8B9D-1EF0FF347241}" type="datetime1">
              <a:rPr lang="en-ZA" smtClean="0"/>
              <a:t>2024/07/20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7D6CB-7593-4C5D-A5F2-EA0B9FAD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391DB-0CDC-420E-AC0E-C2DAED57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444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142F6-65A0-4CBF-92B5-96C09B97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598D5-1593-4F84-86E1-096A73CC2EBA}" type="datetime1">
              <a:rPr lang="en-ZA" smtClean="0"/>
              <a:t>2024/07/20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F9AF7-4B0E-49A0-AD07-7D01AD32B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B7F2E-F79A-4C64-940E-132838EC6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507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DAA5-3D84-4D35-AC45-CE097B21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8347B-82FC-4FCA-B4AB-1CF799455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8A507-344A-47C3-8B25-69138392E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7F029-D108-4CFA-9507-8866605E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8E17-1820-4EF5-A5AC-C40AFE773CA9}" type="datetime1">
              <a:rPr lang="en-ZA" smtClean="0"/>
              <a:t>2024/07/20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530D7-9A25-4791-8409-C1883DFC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84527-8E7F-4758-BB86-6D8283CA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190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E7F8-3043-43B2-9240-99F39199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AA6F5-11EA-41F0-BF81-745F61E53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0FA6A-7B46-4CE9-B198-7067DC9BE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E37BF-80D3-4919-A607-14DBBE03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46CC-8EBC-407D-9DD5-BD00CC0C7A84}" type="datetime1">
              <a:rPr lang="en-ZA" smtClean="0"/>
              <a:t>2024/07/20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744D3-0A47-4F7B-A6A4-456599F8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08340-0039-46B5-B254-DCF226B3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630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A428-E4EF-48B2-ADCA-60896368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55453-D3BE-46C0-924C-D8D3BE381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1AFBB-EA40-4FE3-9A0A-1315F802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D48D-6D3B-4C32-A5C6-78645825DC47}" type="datetime1">
              <a:rPr lang="en-ZA" smtClean="0"/>
              <a:t>2024/07/20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95781-6F4E-4868-A9D1-B179D1F4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01872-7E63-4B77-8EE9-20531BAD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5993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403A7-4570-48C5-BF04-478005746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5F35F-F4B6-423D-9E8D-4C4B695BC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D41C-F7CD-4C17-A711-1B0DB093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496E-CADF-45A3-AFA1-C08CA26F9EBF}" type="datetime1">
              <a:rPr lang="en-ZA" smtClean="0"/>
              <a:t>2024/07/20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26D2-2386-4DE6-BFE0-24AB5BFA1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60793-FABE-4ECB-AFC8-2858932F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7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B24063-6D50-4F33-A1FE-71E85FCC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F4F3C-B9BC-43F5-B530-A0185F90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5CB30-76F9-4DD9-96DB-6207AB650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BD414-3D62-4D60-9FD9-7FCB829BB748}" type="datetime1">
              <a:rPr lang="en-ZA" smtClean="0"/>
              <a:t>2024/07/20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E54B2-D4C8-481A-AA08-3C655976D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760DC-8BFC-4BF8-860E-60D992176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DA99C-FBC5-408E-AF4F-D52BA332F8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175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2A52-DAB1-40DE-8582-F3FB0FF140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sz="6600" b="1" dirty="0"/>
              <a:t>Programming the ATmega328P in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1C53EF-7D01-4099-BB71-5A0426DE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082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1948A-32F0-4BA1-8D57-E8F2BDFBC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72" y="259007"/>
            <a:ext cx="10819228" cy="5911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Why Program the AVR in C?</a:t>
            </a:r>
          </a:p>
          <a:p>
            <a:r>
              <a:rPr lang="en-ZA" sz="2400" dirty="0"/>
              <a:t>Compilers produce hex files, which are downloaded into Flash Program ROMs of microcontrollers</a:t>
            </a:r>
          </a:p>
          <a:p>
            <a:r>
              <a:rPr lang="en-ZA" sz="2400" dirty="0"/>
              <a:t>The sizes of hex files produced by compilers are of concern to microcontroller programmers, since microcontrollers have limited on-chip Flash Program ROMs</a:t>
            </a:r>
          </a:p>
          <a:p>
            <a:r>
              <a:rPr lang="en-ZA" sz="2400" dirty="0"/>
              <a:t>While Assembly-language produces hex files that are much smaller than C, programming in Assembly language is tedious and time-consuming</a:t>
            </a:r>
          </a:p>
          <a:p>
            <a:r>
              <a:rPr lang="en-ZA" sz="2400" dirty="0"/>
              <a:t>On the contrary, C programming is less time consuming and much easier although the hex file produced is larger </a:t>
            </a:r>
          </a:p>
          <a:p>
            <a:r>
              <a:rPr lang="en-ZA" sz="2400" dirty="0"/>
              <a:t>Some of the reasons for programming the AVR in C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sz="2000" dirty="0"/>
              <a:t>It is easier and less time-consuming to write in C than in Assembly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sz="2000" dirty="0"/>
              <a:t>C is easier to modify and update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sz="2000" dirty="0"/>
              <a:t>Code available in function libraries can be used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sz="2000" dirty="0"/>
              <a:t>C code is portable to other microcontrollers with little or no modification</a:t>
            </a:r>
          </a:p>
          <a:p>
            <a:endParaRPr lang="en-ZA" sz="2400" dirty="0"/>
          </a:p>
          <a:p>
            <a:pPr marL="0" indent="0">
              <a:buNone/>
            </a:pPr>
            <a:endParaRPr lang="en-ZA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F38CED-E99C-42A6-A28C-A5FA8018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4631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C7BD497-A741-48BF-8AA1-4FF8F39D74C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46859958"/>
                  </p:ext>
                </p:extLst>
              </p:nvPr>
            </p:nvGraphicFramePr>
            <p:xfrm>
              <a:off x="1203592" y="970671"/>
              <a:ext cx="6927534" cy="436098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87102">
                      <a:extLst>
                        <a:ext uri="{9D8B030D-6E8A-4147-A177-3AD203B41FA5}">
                          <a16:colId xmlns:a16="http://schemas.microsoft.com/office/drawing/2014/main" val="1863803418"/>
                        </a:ext>
                      </a:extLst>
                    </a:gridCol>
                    <a:gridCol w="1509441">
                      <a:extLst>
                        <a:ext uri="{9D8B030D-6E8A-4147-A177-3AD203B41FA5}">
                          <a16:colId xmlns:a16="http://schemas.microsoft.com/office/drawing/2014/main" val="1487637537"/>
                        </a:ext>
                      </a:extLst>
                    </a:gridCol>
                    <a:gridCol w="3530991">
                      <a:extLst>
                        <a:ext uri="{9D8B030D-6E8A-4147-A177-3AD203B41FA5}">
                          <a16:colId xmlns:a16="http://schemas.microsoft.com/office/drawing/2014/main" val="1849513192"/>
                        </a:ext>
                      </a:extLst>
                    </a:gridCol>
                  </a:tblGrid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b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Data Type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b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Size in Bits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b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Data Range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14439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unsigned char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 to 255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190964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char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-128 to +127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9558449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unsigned int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16-bits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 to 65,535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2811000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int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16-bits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-32,768 to +32,767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2503208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unsigned long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 to 4,294,967,295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6038479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long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-2,147,483,648 to +2,147,483,648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0499861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±</a:t>
                          </a: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1.175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−38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 </a:t>
                          </a: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±</a:t>
                          </a: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3.402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457284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±</a:t>
                          </a: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1.175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−38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 </a:t>
                          </a: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a:t>±</a:t>
                          </a:r>
                          <a:r>
                            <a:rPr lang="en-ZA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3.402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ZA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952154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C7BD497-A741-48BF-8AA1-4FF8F39D74C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46859958"/>
                  </p:ext>
                </p:extLst>
              </p:nvPr>
            </p:nvGraphicFramePr>
            <p:xfrm>
              <a:off x="1203592" y="970671"/>
              <a:ext cx="6927534" cy="436098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87102">
                      <a:extLst>
                        <a:ext uri="{9D8B030D-6E8A-4147-A177-3AD203B41FA5}">
                          <a16:colId xmlns:a16="http://schemas.microsoft.com/office/drawing/2014/main" val="1863803418"/>
                        </a:ext>
                      </a:extLst>
                    </a:gridCol>
                    <a:gridCol w="1509441">
                      <a:extLst>
                        <a:ext uri="{9D8B030D-6E8A-4147-A177-3AD203B41FA5}">
                          <a16:colId xmlns:a16="http://schemas.microsoft.com/office/drawing/2014/main" val="1487637537"/>
                        </a:ext>
                      </a:extLst>
                    </a:gridCol>
                    <a:gridCol w="3530991">
                      <a:extLst>
                        <a:ext uri="{9D8B030D-6E8A-4147-A177-3AD203B41FA5}">
                          <a16:colId xmlns:a16="http://schemas.microsoft.com/office/drawing/2014/main" val="1849513192"/>
                        </a:ext>
                      </a:extLst>
                    </a:gridCol>
                  </a:tblGrid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b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Data Type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b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Size in Bits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b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Data Range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14439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unsigned char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 to 255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8190964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char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-128 to +127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99558449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unsigned int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16-bits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 to 65,535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2811000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int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16-bits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-32,768 to +32,767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2503208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unsigned long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 to 4,294,967,295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6038479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long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-2,147,483,648 to +2,147,483,648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0499861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6207" t="-706329" r="-345" b="-1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457284"/>
                      </a:ext>
                    </a:extLst>
                  </a:tr>
                  <a:tr h="4845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ZA" sz="160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32-bits</a:t>
                          </a:r>
                          <a:endParaRPr lang="en-ZA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6207" t="-796250" r="-345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2154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7CB03F-BC24-48E7-AAE2-A8D0563F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465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52FE6-352C-4AE4-8556-4DA7942B6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7963"/>
            <a:ext cx="10515600" cy="59483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ZA" sz="2400" b="1" dirty="0"/>
              <a:t>unsigned char</a:t>
            </a:r>
          </a:p>
          <a:p>
            <a:r>
              <a:rPr lang="en-ZA" sz="2400" dirty="0"/>
              <a:t>It is an 8-bit data-type that takes values in the range 0 to 255 (00 to FFH)</a:t>
            </a:r>
          </a:p>
          <a:p>
            <a:r>
              <a:rPr lang="en-ZA" sz="2400" i="1" dirty="0"/>
              <a:t>unsigned char </a:t>
            </a:r>
            <a:r>
              <a:rPr lang="en-ZA" sz="2400" dirty="0"/>
              <a:t>takes one byte of RAM</a:t>
            </a:r>
            <a:endParaRPr lang="en-ZA" sz="2400" i="1" dirty="0"/>
          </a:p>
          <a:p>
            <a:r>
              <a:rPr lang="en-ZA" sz="2400" dirty="0"/>
              <a:t>It</a:t>
            </a:r>
            <a:r>
              <a:rPr lang="en-ZA" sz="2400" i="1" dirty="0"/>
              <a:t> </a:t>
            </a:r>
            <a:r>
              <a:rPr lang="en-ZA" sz="2400" dirty="0"/>
              <a:t>must be used where there is no need for signed data</a:t>
            </a:r>
          </a:p>
          <a:p>
            <a:r>
              <a:rPr lang="en-ZA" sz="2400" i="1" dirty="0"/>
              <a:t>unsigned char</a:t>
            </a:r>
            <a:r>
              <a:rPr lang="en-ZA" sz="2400" dirty="0"/>
              <a:t> can be used for ASCII characters</a:t>
            </a:r>
          </a:p>
          <a:p>
            <a:endParaRPr lang="en-ZA" sz="2400" dirty="0"/>
          </a:p>
          <a:p>
            <a:pPr marL="0" indent="0">
              <a:buNone/>
            </a:pPr>
            <a:r>
              <a:rPr lang="en-ZA" sz="2400" b="1" dirty="0"/>
              <a:t>signed char </a:t>
            </a:r>
          </a:p>
          <a:p>
            <a:r>
              <a:rPr lang="en-ZA" sz="2400" dirty="0"/>
              <a:t>It is the default char data-type, unless the keyword </a:t>
            </a:r>
            <a:r>
              <a:rPr lang="en-ZA" sz="2400" i="1" dirty="0"/>
              <a:t>unsigned</a:t>
            </a:r>
            <a:r>
              <a:rPr lang="en-ZA" sz="2400" dirty="0"/>
              <a:t> is put in front of </a:t>
            </a:r>
            <a:r>
              <a:rPr lang="en-ZA" sz="2400" i="1" dirty="0"/>
              <a:t>char</a:t>
            </a:r>
          </a:p>
          <a:p>
            <a:r>
              <a:rPr lang="en-ZA" sz="2400" i="1" dirty="0"/>
              <a:t>signed char </a:t>
            </a:r>
            <a:r>
              <a:rPr lang="en-ZA" sz="2400" dirty="0"/>
              <a:t>is an 8-bit data-type that uses the MSB to represent the sign (1 representing negative and 0 positive) and 7 bits for the magnitude of the number</a:t>
            </a:r>
          </a:p>
          <a:p>
            <a:r>
              <a:rPr lang="en-ZA" sz="2400" i="1" dirty="0"/>
              <a:t>signed char</a:t>
            </a:r>
            <a:r>
              <a:rPr lang="en-ZA" sz="2400" dirty="0"/>
              <a:t> takes one byte of RAM</a:t>
            </a:r>
          </a:p>
          <a:p>
            <a:r>
              <a:rPr lang="en-ZA" sz="2400" dirty="0"/>
              <a:t>It</a:t>
            </a:r>
            <a:r>
              <a:rPr lang="en-ZA" sz="2400" i="1" dirty="0"/>
              <a:t> </a:t>
            </a:r>
            <a:r>
              <a:rPr lang="en-ZA" sz="2400" dirty="0"/>
              <a:t>ranges from -128 to +127</a:t>
            </a:r>
          </a:p>
          <a:p>
            <a:r>
              <a:rPr lang="en-ZA" sz="2400" dirty="0"/>
              <a:t>In cases where + and – are needed to represent a given quantity such as temperature, the use of signed char is necessary</a:t>
            </a:r>
          </a:p>
          <a:p>
            <a:endParaRPr lang="en-ZA" sz="2400" dirty="0"/>
          </a:p>
          <a:p>
            <a:endParaRPr lang="en-ZA" sz="2400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4DA24-E608-4E88-83B6-61C609ED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7504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BCA8B-D4DF-4179-8C60-3CA1D5751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4234"/>
            <a:ext cx="10515600" cy="5712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unsigned int</a:t>
            </a:r>
          </a:p>
          <a:p>
            <a:r>
              <a:rPr lang="en-ZA" sz="2400" i="1" dirty="0"/>
              <a:t>unsigned int </a:t>
            </a:r>
            <a:r>
              <a:rPr lang="en-ZA" sz="2400" dirty="0"/>
              <a:t>is a 16-bit data-type that takes values in the range 0 to 65,535 (0000 to $FFFF)</a:t>
            </a:r>
          </a:p>
          <a:p>
            <a:r>
              <a:rPr lang="en-ZA" sz="2400" dirty="0"/>
              <a:t>It takes two bytes of RAM and the misuse of int variables will lead to larger hex files, slower program execution and more memory usage</a:t>
            </a:r>
          </a:p>
          <a:p>
            <a:r>
              <a:rPr lang="en-ZA" sz="2400" i="1" dirty="0"/>
              <a:t>unsigned int </a:t>
            </a:r>
            <a:r>
              <a:rPr lang="en-ZA" sz="2400" dirty="0"/>
              <a:t>must be used for values greater than 255 (not where </a:t>
            </a:r>
            <a:r>
              <a:rPr lang="en-ZA" sz="2400" i="1" dirty="0"/>
              <a:t>unsigned char </a:t>
            </a:r>
            <a:r>
              <a:rPr lang="en-ZA" sz="2400" dirty="0"/>
              <a:t>can be used)</a:t>
            </a:r>
          </a:p>
          <a:p>
            <a:endParaRPr lang="en-ZA" sz="2400" dirty="0"/>
          </a:p>
          <a:p>
            <a:pPr marL="0" indent="0">
              <a:buNone/>
            </a:pPr>
            <a:r>
              <a:rPr lang="en-ZA" sz="2400" b="1" dirty="0"/>
              <a:t>signed int</a:t>
            </a:r>
          </a:p>
          <a:p>
            <a:r>
              <a:rPr lang="en-ZA" sz="2400" dirty="0"/>
              <a:t>It is the default </a:t>
            </a:r>
            <a:r>
              <a:rPr lang="en-ZA" sz="2400" i="1" dirty="0"/>
              <a:t>int</a:t>
            </a:r>
            <a:r>
              <a:rPr lang="en-ZA" sz="2400" dirty="0"/>
              <a:t> data-type </a:t>
            </a:r>
          </a:p>
          <a:p>
            <a:r>
              <a:rPr lang="en-ZA" sz="2400" i="1" dirty="0"/>
              <a:t>signed int </a:t>
            </a:r>
            <a:r>
              <a:rPr lang="en-ZA" sz="2400" dirty="0"/>
              <a:t>is a 16-bit data-type that uses the MSB for sign and 15 bits for magnitude, and takes values in the range -32,768 to +32,767</a:t>
            </a:r>
          </a:p>
          <a:p>
            <a:pPr marL="0" indent="0">
              <a:buNone/>
            </a:pPr>
            <a:endParaRPr lang="en-ZA" sz="2400" dirty="0"/>
          </a:p>
          <a:p>
            <a:endParaRPr lang="en-Z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26797-380C-4D7F-A24F-BC55D806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216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4ED1-AE29-44F4-9A29-8D5FF2D9D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203" y="335060"/>
            <a:ext cx="10515600" cy="6203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I/O Programming in C</a:t>
            </a:r>
          </a:p>
          <a:p>
            <a:r>
              <a:rPr lang="en-ZA" sz="2400" dirty="0"/>
              <a:t>All port registers are both byte and bit accessible </a:t>
            </a:r>
          </a:p>
          <a:p>
            <a:r>
              <a:rPr lang="en-ZA" sz="2400" dirty="0"/>
              <a:t>To access a port register as a byte, we use </a:t>
            </a:r>
            <a:r>
              <a:rPr lang="en-ZA" sz="2400" dirty="0" err="1"/>
              <a:t>PORTx</a:t>
            </a:r>
            <a:endParaRPr lang="en-ZA" sz="2400" dirty="0"/>
          </a:p>
          <a:p>
            <a:pPr marL="0" indent="0">
              <a:buNone/>
            </a:pPr>
            <a:r>
              <a:rPr lang="en-ZA" sz="2400" b="1" dirty="0"/>
              <a:t>Example 1</a:t>
            </a:r>
          </a:p>
          <a:p>
            <a:pPr marL="0" indent="0">
              <a:buNone/>
            </a:pPr>
            <a:r>
              <a:rPr lang="en-ZA" sz="2400" dirty="0"/>
              <a:t>Write a C program to get a byte of data from PORTC. If it is less than 100, send it to PORTB; otherwise, send it to PORTD </a:t>
            </a:r>
          </a:p>
          <a:p>
            <a:pPr marL="0" indent="0">
              <a:buNone/>
            </a:pPr>
            <a:r>
              <a:rPr lang="en-ZA" sz="2400" b="1" dirty="0"/>
              <a:t>Solution </a:t>
            </a:r>
            <a:r>
              <a:rPr lang="en-ZA" sz="2400" dirty="0"/>
              <a:t>(in the next slide)</a:t>
            </a:r>
            <a:endParaRPr lang="en-ZA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01888-CB42-49DB-A124-07448F83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580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BF16F-7DCB-4628-9891-076CE377B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421"/>
            <a:ext cx="10515600" cy="61897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sz="2000" dirty="0"/>
              <a:t>#include &lt;</a:t>
            </a:r>
            <a:r>
              <a:rPr lang="en-ZA" sz="2000" dirty="0" err="1"/>
              <a:t>avr</a:t>
            </a:r>
            <a:r>
              <a:rPr lang="en-ZA" sz="2000" dirty="0"/>
              <a:t>/</a:t>
            </a:r>
            <a:r>
              <a:rPr lang="en-ZA" sz="2000" dirty="0" err="1"/>
              <a:t>io.h</a:t>
            </a:r>
            <a:r>
              <a:rPr lang="en-ZA" sz="2000" dirty="0"/>
              <a:t>&gt;      //standard AVR header</a:t>
            </a:r>
          </a:p>
          <a:p>
            <a:pPr marL="0" indent="0">
              <a:buNone/>
            </a:pPr>
            <a:r>
              <a:rPr lang="en-ZA" sz="2000" dirty="0"/>
              <a:t>int main(void)</a:t>
            </a:r>
          </a:p>
          <a:p>
            <a:pPr marL="0" indent="0">
              <a:buNone/>
            </a:pPr>
            <a:r>
              <a:rPr lang="en-ZA" sz="2000" dirty="0"/>
              <a:t>{</a:t>
            </a:r>
          </a:p>
          <a:p>
            <a:pPr marL="0" indent="0">
              <a:buNone/>
            </a:pPr>
            <a:r>
              <a:rPr lang="en-ZA" sz="2000" dirty="0"/>
              <a:t>         DDRC = 0x00;                //PORTC is input</a:t>
            </a:r>
          </a:p>
          <a:p>
            <a:pPr marL="0" indent="0">
              <a:buNone/>
            </a:pPr>
            <a:r>
              <a:rPr lang="en-ZA" sz="2000" dirty="0"/>
              <a:t>         DDRB = 0xFF                 //PORTB is output</a:t>
            </a:r>
          </a:p>
          <a:p>
            <a:pPr marL="0" indent="0">
              <a:buNone/>
            </a:pPr>
            <a:r>
              <a:rPr lang="en-ZA" sz="2000" dirty="0"/>
              <a:t>         DDRD = 0xFF                //PORTD is output</a:t>
            </a:r>
          </a:p>
          <a:p>
            <a:pPr marL="0" indent="0">
              <a:buNone/>
            </a:pPr>
            <a:r>
              <a:rPr lang="en-ZA" sz="2000" dirty="0"/>
              <a:t>         unsigned char temp;</a:t>
            </a:r>
          </a:p>
          <a:p>
            <a:pPr marL="0" indent="0">
              <a:buNone/>
            </a:pPr>
            <a:r>
              <a:rPr lang="en-ZA" sz="2000" dirty="0"/>
              <a:t>         while(1)</a:t>
            </a:r>
          </a:p>
          <a:p>
            <a:pPr marL="0" indent="0">
              <a:buNone/>
            </a:pPr>
            <a:r>
              <a:rPr lang="en-ZA" sz="2000" dirty="0"/>
              <a:t>         { </a:t>
            </a:r>
          </a:p>
          <a:p>
            <a:pPr marL="0" indent="0">
              <a:buNone/>
            </a:pPr>
            <a:r>
              <a:rPr lang="en-ZA" sz="2000" dirty="0"/>
              <a:t>                 temp = PINC;          //read from PINC</a:t>
            </a:r>
          </a:p>
          <a:p>
            <a:pPr marL="0" indent="0">
              <a:buNone/>
            </a:pPr>
            <a:r>
              <a:rPr lang="en-ZA" sz="2000" dirty="0"/>
              <a:t>                 if( temp &lt; 100 )</a:t>
            </a:r>
          </a:p>
          <a:p>
            <a:pPr marL="0" indent="0">
              <a:buNone/>
            </a:pPr>
            <a:r>
              <a:rPr lang="en-ZA" sz="2000" dirty="0"/>
              <a:t>                         PORTB = temp;</a:t>
            </a:r>
          </a:p>
          <a:p>
            <a:pPr marL="0" indent="0">
              <a:buNone/>
            </a:pPr>
            <a:r>
              <a:rPr lang="en-ZA" sz="2000" dirty="0"/>
              <a:t>                  else</a:t>
            </a:r>
          </a:p>
          <a:p>
            <a:pPr marL="0" indent="0">
              <a:buNone/>
            </a:pPr>
            <a:r>
              <a:rPr lang="en-ZA" sz="2000" dirty="0"/>
              <a:t>                         PORTD = temp;</a:t>
            </a:r>
          </a:p>
          <a:p>
            <a:pPr marL="0" indent="0">
              <a:buNone/>
            </a:pPr>
            <a:r>
              <a:rPr lang="en-ZA" sz="2000" dirty="0"/>
              <a:t>         }</a:t>
            </a:r>
          </a:p>
          <a:p>
            <a:pPr marL="0" indent="0">
              <a:buNone/>
            </a:pPr>
            <a:r>
              <a:rPr lang="en-ZA" sz="2000" dirty="0"/>
              <a:t>        return 0;</a:t>
            </a:r>
          </a:p>
          <a:p>
            <a:pPr marL="0" indent="0">
              <a:buNone/>
            </a:pPr>
            <a:r>
              <a:rPr lang="en-ZA" sz="20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8DBE4-6954-45B9-A64E-A4888DD4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5899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2BA83-E1DB-45EA-B10C-7270983D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302"/>
            <a:ext cx="10515600" cy="6133513"/>
          </a:xfrm>
        </p:spPr>
        <p:txBody>
          <a:bodyPr>
            <a:normAutofit/>
          </a:bodyPr>
          <a:lstStyle/>
          <a:p>
            <a:r>
              <a:rPr lang="en-ZA" sz="2400" dirty="0"/>
              <a:t>To access a single bit of a given register, use bitwise operators </a:t>
            </a:r>
          </a:p>
          <a:p>
            <a:r>
              <a:rPr lang="en-ZA" sz="2400" dirty="0"/>
              <a:t>Bitwise operators include AND(&amp;), OR(|), XOR(^), invert(~), shift right (&gt;&gt;) and shift left (&lt;&lt;)</a:t>
            </a:r>
          </a:p>
          <a:p>
            <a:r>
              <a:rPr lang="en-ZA" sz="2400" dirty="0"/>
              <a:t>The following examples use bitwise operators: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0x35 &amp; 0x0F =0x05    (ANDing)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0x04 | 0x68 = 0x6C    (</a:t>
            </a:r>
            <a:r>
              <a:rPr lang="en-ZA" sz="2000" dirty="0" err="1"/>
              <a:t>ORing</a:t>
            </a:r>
            <a:r>
              <a:rPr lang="en-ZA" sz="20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0x54 ^ 0x78 = 0x2C    (XORing)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~0x55 = 0xAA              (Inverting)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0x0A &gt;&gt; 1 = 0x05    (shifting right)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0x0A &lt;&lt; 1 = 0x14    (shifting left)</a:t>
            </a:r>
          </a:p>
          <a:p>
            <a:r>
              <a:rPr lang="en-ZA" sz="2400" dirty="0"/>
              <a:t>Bitwise </a:t>
            </a:r>
            <a:r>
              <a:rPr lang="en-ZA" sz="2400" dirty="0" err="1"/>
              <a:t>ORing</a:t>
            </a:r>
            <a:r>
              <a:rPr lang="en-ZA" sz="2400" dirty="0"/>
              <a:t>, ANDing and XORing can be used to set, clear and toggle bits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Anything </a:t>
            </a:r>
            <a:r>
              <a:rPr lang="en-ZA" sz="2000" dirty="0" err="1"/>
              <a:t>ORed</a:t>
            </a:r>
            <a:r>
              <a:rPr lang="en-ZA" sz="2000" dirty="0"/>
              <a:t> with a 1 results in a 1; anything </a:t>
            </a:r>
            <a:r>
              <a:rPr lang="en-ZA" sz="2000" dirty="0" err="1"/>
              <a:t>ORed</a:t>
            </a:r>
            <a:r>
              <a:rPr lang="en-ZA" sz="2000" dirty="0"/>
              <a:t> with a 0 results in no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Anything ANDed with a 0 results in 0; anything ANDed with a 1 results in no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Anything XORed with a 1 results in the complement; anything XORed with a 0 results in no change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ZA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ZA" sz="2000" dirty="0"/>
          </a:p>
          <a:p>
            <a:endParaRPr lang="en-Z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DA689-8FEF-4D95-BF01-32B93386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754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85A04-700A-423D-B978-25A97F950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894"/>
            <a:ext cx="10515600" cy="6083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Time Delay</a:t>
            </a:r>
          </a:p>
          <a:p>
            <a:r>
              <a:rPr lang="en-ZA" sz="2400" dirty="0"/>
              <a:t>There are three ways to generate a delay in AVR C: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sz="2000" dirty="0"/>
              <a:t>Using a simple for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sz="2000" dirty="0"/>
              <a:t>Using pre-defined C 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sz="2000" dirty="0"/>
              <a:t>Using AVR timers</a:t>
            </a:r>
          </a:p>
          <a:p>
            <a:r>
              <a:rPr lang="en-ZA" sz="2400" dirty="0"/>
              <a:t>The frequency of the crystal oscillator is important in determining the time delay</a:t>
            </a:r>
          </a:p>
          <a:p>
            <a:r>
              <a:rPr lang="en-ZA" sz="2400" dirty="0"/>
              <a:t>An example program for creating a delay using the for loop is given below:</a:t>
            </a:r>
          </a:p>
          <a:p>
            <a:pPr marL="0" indent="0">
              <a:buNone/>
            </a:pPr>
            <a:r>
              <a:rPr lang="en-ZA" sz="2000" dirty="0"/>
              <a:t>      int main(void)</a:t>
            </a:r>
          </a:p>
          <a:p>
            <a:pPr marL="0" indent="0">
              <a:buNone/>
            </a:pPr>
            <a:r>
              <a:rPr lang="en-ZA" sz="2000" dirty="0"/>
              <a:t>      {</a:t>
            </a:r>
          </a:p>
          <a:p>
            <a:pPr marL="0" indent="0">
              <a:buNone/>
            </a:pPr>
            <a:r>
              <a:rPr lang="en-ZA" sz="2000" dirty="0"/>
              <a:t>           unsigned long </a:t>
            </a:r>
            <a:r>
              <a:rPr lang="en-ZA" sz="2000" dirty="0" err="1"/>
              <a:t>i</a:t>
            </a:r>
            <a:r>
              <a:rPr lang="en-ZA" sz="2000" dirty="0"/>
              <a:t>;</a:t>
            </a:r>
          </a:p>
          <a:p>
            <a:pPr marL="0" indent="0">
              <a:buNone/>
            </a:pPr>
            <a:r>
              <a:rPr lang="en-ZA" sz="2000" dirty="0"/>
              <a:t>           for(</a:t>
            </a:r>
            <a:r>
              <a:rPr lang="en-ZA" sz="2000" dirty="0" err="1"/>
              <a:t>i</a:t>
            </a:r>
            <a:r>
              <a:rPr lang="en-ZA" sz="2000" dirty="0"/>
              <a:t> = 0; </a:t>
            </a:r>
            <a:r>
              <a:rPr lang="en-ZA" sz="2000" dirty="0" err="1"/>
              <a:t>i</a:t>
            </a:r>
            <a:r>
              <a:rPr lang="en-ZA" sz="2000" dirty="0"/>
              <a:t> &lt; 47060; </a:t>
            </a:r>
            <a:r>
              <a:rPr lang="en-ZA" sz="2000" dirty="0" err="1"/>
              <a:t>i</a:t>
            </a:r>
            <a:r>
              <a:rPr lang="en-ZA" sz="2000" dirty="0"/>
              <a:t> ++)  //assume XTAL = 16</a:t>
            </a:r>
          </a:p>
          <a:p>
            <a:pPr marL="0" indent="0">
              <a:buNone/>
            </a:pPr>
            <a:r>
              <a:rPr lang="en-ZA" sz="2000" dirty="0"/>
              <a:t>      }</a:t>
            </a:r>
          </a:p>
          <a:p>
            <a:pPr marL="0" indent="0">
              <a:buNone/>
            </a:pPr>
            <a:endParaRPr lang="en-ZA" sz="2000" dirty="0"/>
          </a:p>
          <a:p>
            <a:r>
              <a:rPr lang="en-ZA" sz="2400" dirty="0"/>
              <a:t>Another way to generate a time delay is to use predefined functions _</a:t>
            </a:r>
            <a:r>
              <a:rPr lang="en-ZA" sz="2400" dirty="0" err="1"/>
              <a:t>delay_ms</a:t>
            </a:r>
            <a:r>
              <a:rPr lang="en-ZA" sz="2400" dirty="0"/>
              <a:t>() and _</a:t>
            </a:r>
            <a:r>
              <a:rPr lang="en-ZA" sz="2400" dirty="0" err="1"/>
              <a:t>delay_us</a:t>
            </a:r>
            <a:r>
              <a:rPr lang="en-ZA" sz="2400" dirty="0"/>
              <a:t>() defined in </a:t>
            </a:r>
            <a:r>
              <a:rPr lang="en-ZA" sz="2400" dirty="0" err="1"/>
              <a:t>delay.h</a:t>
            </a:r>
            <a:r>
              <a:rPr lang="en-ZA" sz="2400" dirty="0"/>
              <a:t> in Atmel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FE410-CF0E-49CD-9837-89B4A865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1548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0719-96B7-4BA9-BB1A-3174F75F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999"/>
            <a:ext cx="10515600" cy="6285345"/>
          </a:xfrm>
        </p:spPr>
        <p:txBody>
          <a:bodyPr>
            <a:normAutofit fontScale="92500" lnSpcReduction="10000"/>
          </a:bodyPr>
          <a:lstStyle/>
          <a:p>
            <a:r>
              <a:rPr lang="en-ZA" sz="2400" dirty="0"/>
              <a:t>Write an AVR C program to send 0x55 and 0xAA data alternately to PORTB and PORTC. Write a delay subroutine of 500 </a:t>
            </a:r>
            <a:r>
              <a:rPr lang="en-ZA" sz="2400" dirty="0" err="1"/>
              <a:t>ms</a:t>
            </a:r>
            <a:r>
              <a:rPr lang="en-ZA" sz="2400" dirty="0"/>
              <a:t> between alternating the</a:t>
            </a:r>
          </a:p>
          <a:p>
            <a:r>
              <a:rPr lang="en-ZA" sz="2400" dirty="0"/>
              <a:t>In Atmel studio, define F_CPU before using </a:t>
            </a:r>
            <a:r>
              <a:rPr lang="en-ZA" sz="2400" dirty="0" err="1"/>
              <a:t>delay.h</a:t>
            </a:r>
            <a:r>
              <a:rPr lang="en-ZA" sz="2400" dirty="0"/>
              <a:t> </a:t>
            </a:r>
          </a:p>
          <a:p>
            <a:r>
              <a:rPr lang="en-ZA" sz="2400" dirty="0"/>
              <a:t>An example program using _</a:t>
            </a:r>
            <a:r>
              <a:rPr lang="en-ZA" sz="2400" dirty="0" err="1"/>
              <a:t>delay_ms</a:t>
            </a:r>
            <a:r>
              <a:rPr lang="en-ZA" sz="2400" dirty="0"/>
              <a:t>() is given below: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600" dirty="0"/>
              <a:t>   </a:t>
            </a:r>
            <a:r>
              <a:rPr lang="en-ZA" sz="1500" dirty="0"/>
              <a:t>#define F_CPU 16000000              //XTAL = 16 MHz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#include &lt;util/</a:t>
            </a:r>
            <a:r>
              <a:rPr lang="en-ZA" sz="1500" dirty="0" err="1"/>
              <a:t>delay.h</a:t>
            </a:r>
            <a:r>
              <a:rPr lang="en-ZA" sz="1500" dirty="0"/>
              <a:t>&gt;                 //delay loop function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#include &lt;</a:t>
            </a:r>
            <a:r>
              <a:rPr lang="en-ZA" sz="1500" dirty="0" err="1"/>
              <a:t>avr</a:t>
            </a:r>
            <a:r>
              <a:rPr lang="en-ZA" sz="1500" dirty="0"/>
              <a:t>/</a:t>
            </a:r>
            <a:r>
              <a:rPr lang="en-ZA" sz="1500" dirty="0" err="1"/>
              <a:t>io.h</a:t>
            </a:r>
            <a:r>
              <a:rPr lang="en-ZA" sz="1500" dirty="0"/>
              <a:t>&gt;                       //standard AVR header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int main(void)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DDRB = 0xFF;     //PORTB is output (</a:t>
            </a:r>
            <a:r>
              <a:rPr lang="en-ZA" sz="1500" i="1" dirty="0">
                <a:solidFill>
                  <a:srgbClr val="FF0000"/>
                </a:solidFill>
              </a:rPr>
              <a:t>all ports or pins in the “B” I/O port act as outputs.) (DDRB = 0b11111111)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while(1) //toggling all inputs of PORTB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{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       PORTB = 0xAA;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       _</a:t>
            </a:r>
            <a:r>
              <a:rPr lang="en-ZA" sz="1500" dirty="0" err="1"/>
              <a:t>delay_ms</a:t>
            </a:r>
            <a:r>
              <a:rPr lang="en-ZA" sz="1500" dirty="0"/>
              <a:t>(500);   //wait 0.5 sec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      PORTB = 0x55;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     _</a:t>
            </a:r>
            <a:r>
              <a:rPr lang="en-ZA" sz="1500" dirty="0" err="1"/>
              <a:t>delay_ms</a:t>
            </a:r>
            <a:r>
              <a:rPr lang="en-ZA" sz="1500" dirty="0"/>
              <a:t>(500); //wait 0.5 sec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     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ZA" sz="1500" dirty="0"/>
              <a:t>   }</a:t>
            </a:r>
          </a:p>
          <a:p>
            <a:pPr marL="0" indent="0">
              <a:lnSpc>
                <a:spcPct val="100000"/>
              </a:lnSpc>
              <a:buNone/>
            </a:pPr>
            <a:endParaRPr lang="en-ZA" sz="1800" dirty="0"/>
          </a:p>
          <a:p>
            <a:endParaRPr lang="en-Z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CEEB2-0CE0-4916-81B1-FD027AEF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7409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48176-A201-4F26-B746-2CED8CFDD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200"/>
            <a:ext cx="10515600" cy="5846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sz="2600" b="1" dirty="0"/>
              <a:t>Program Repeating Indefinitely versus Program Stopping</a:t>
            </a:r>
          </a:p>
          <a:p>
            <a:r>
              <a:rPr lang="en-ZA" sz="2600" dirty="0"/>
              <a:t>For a program to repeat indefinitely, for example in monitoring, use:</a:t>
            </a:r>
          </a:p>
          <a:p>
            <a:pPr marL="0" indent="0">
              <a:buNone/>
            </a:pPr>
            <a:r>
              <a:rPr lang="en-ZA" sz="2400" dirty="0"/>
              <a:t>    </a:t>
            </a:r>
            <a:r>
              <a:rPr lang="en-ZA" sz="1900" dirty="0"/>
              <a:t>int main(void)</a:t>
            </a:r>
          </a:p>
          <a:p>
            <a:pPr marL="0" indent="0">
              <a:buNone/>
            </a:pPr>
            <a:r>
              <a:rPr lang="en-ZA" sz="1900" dirty="0"/>
              <a:t>    {</a:t>
            </a:r>
          </a:p>
          <a:p>
            <a:pPr marL="0" indent="0">
              <a:buNone/>
            </a:pPr>
            <a:r>
              <a:rPr lang="en-ZA" sz="1900" dirty="0"/>
              <a:t>         while(1)</a:t>
            </a:r>
          </a:p>
          <a:p>
            <a:pPr marL="0" indent="0">
              <a:buNone/>
            </a:pPr>
            <a:r>
              <a:rPr lang="en-ZA" sz="1900" dirty="0"/>
              <a:t>         {</a:t>
            </a:r>
          </a:p>
          <a:p>
            <a:pPr marL="0" indent="0">
              <a:buNone/>
            </a:pPr>
            <a:r>
              <a:rPr lang="en-ZA" sz="1900" dirty="0"/>
              <a:t>             X   //statements</a:t>
            </a:r>
          </a:p>
          <a:p>
            <a:pPr marL="0" indent="0">
              <a:buNone/>
            </a:pPr>
            <a:r>
              <a:rPr lang="en-ZA" sz="1900" dirty="0"/>
              <a:t>         }</a:t>
            </a:r>
          </a:p>
          <a:p>
            <a:pPr marL="0" indent="0">
              <a:buNone/>
            </a:pPr>
            <a:r>
              <a:rPr lang="en-ZA" sz="1900" dirty="0"/>
              <a:t>         return 0;</a:t>
            </a:r>
          </a:p>
          <a:p>
            <a:pPr marL="0" indent="0">
              <a:buNone/>
            </a:pPr>
            <a:r>
              <a:rPr lang="en-ZA" sz="1900" dirty="0"/>
              <a:t>      }</a:t>
            </a:r>
          </a:p>
          <a:p>
            <a:r>
              <a:rPr lang="en-ZA" sz="2600" dirty="0"/>
              <a:t>For a program to stop at some point until the microcontroller is reset, use:</a:t>
            </a:r>
          </a:p>
          <a:p>
            <a:pPr marL="0" indent="0">
              <a:buNone/>
            </a:pPr>
            <a:r>
              <a:rPr lang="en-ZA" sz="2000" dirty="0"/>
              <a:t>      </a:t>
            </a:r>
            <a:r>
              <a:rPr lang="en-ZA" sz="1900" dirty="0"/>
              <a:t>int main(void)</a:t>
            </a:r>
          </a:p>
          <a:p>
            <a:pPr marL="0" indent="0">
              <a:buNone/>
            </a:pPr>
            <a:r>
              <a:rPr lang="en-ZA" sz="1900" dirty="0"/>
              <a:t>      {</a:t>
            </a:r>
          </a:p>
          <a:p>
            <a:pPr marL="0" indent="0">
              <a:buNone/>
            </a:pPr>
            <a:r>
              <a:rPr lang="en-ZA" sz="1900" dirty="0"/>
              <a:t>           X    //statements</a:t>
            </a:r>
          </a:p>
          <a:p>
            <a:pPr marL="0" indent="0">
              <a:buNone/>
            </a:pPr>
            <a:r>
              <a:rPr lang="en-ZA" sz="1900" dirty="0"/>
              <a:t>            while(1);</a:t>
            </a:r>
          </a:p>
          <a:p>
            <a:pPr marL="0" indent="0">
              <a:buNone/>
            </a:pPr>
            <a:r>
              <a:rPr lang="en-ZA" sz="1900" dirty="0"/>
              <a:t>           return 0;</a:t>
            </a:r>
          </a:p>
          <a:p>
            <a:pPr marL="0" indent="0">
              <a:buNone/>
            </a:pPr>
            <a:r>
              <a:rPr lang="en-ZA" sz="1900" dirty="0"/>
              <a:t>   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CE1CB-CFEC-4672-9656-2C35ED08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450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45864-4F03-6D26-E400-52529E954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452"/>
            <a:ext cx="10515600" cy="60173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ZA" sz="2400" b="1" dirty="0"/>
              <a:t>Masking</a:t>
            </a:r>
            <a:endParaRPr lang="en-ZA" sz="2400" dirty="0"/>
          </a:p>
          <a:p>
            <a:r>
              <a:rPr lang="en-GB" sz="2400" dirty="0"/>
              <a:t>Masking is a process of hiding information that is not required</a:t>
            </a:r>
          </a:p>
          <a:p>
            <a:r>
              <a:rPr lang="en-GB" sz="2400" dirty="0"/>
              <a:t>We mask through </a:t>
            </a:r>
            <a:r>
              <a:rPr lang="en-GB" sz="2400" b="1" dirty="0"/>
              <a:t>bit-wise ANDing with a masking byte</a:t>
            </a:r>
            <a:r>
              <a:rPr lang="en-GB" sz="2400" dirty="0"/>
              <a:t> (with 0’s on bits to hide and 1’s on bits needed) </a:t>
            </a:r>
          </a:p>
          <a:p>
            <a:r>
              <a:rPr lang="en-GB" sz="2400" b="1" dirty="0"/>
              <a:t>For example,</a:t>
            </a:r>
            <a:r>
              <a:rPr lang="en-GB" sz="2400" dirty="0"/>
              <a:t> we have eight switches connected to PORTD (one Switch to each pin), and we want to read only PD3 and PD4.</a:t>
            </a:r>
          </a:p>
          <a:p>
            <a:r>
              <a:rPr lang="en-GB" sz="2400" dirty="0"/>
              <a:t>In this example, we only need information of PD3 and PD4 and, so, we mask with 1’s those pins and others with 0’s. </a:t>
            </a:r>
          </a:p>
          <a:p>
            <a:r>
              <a:rPr lang="en-GB" sz="2400" dirty="0"/>
              <a:t>Therefore, the </a:t>
            </a:r>
            <a:r>
              <a:rPr lang="en-GB" sz="2400" b="1" dirty="0"/>
              <a:t>masking byte is 00011000 </a:t>
            </a:r>
            <a:r>
              <a:rPr lang="en-GB" sz="2400" dirty="0"/>
              <a:t>and the </a:t>
            </a:r>
            <a:r>
              <a:rPr lang="en-GB" sz="2400" b="1" dirty="0"/>
              <a:t>instruction is: (PIND &amp; 0x18)</a:t>
            </a:r>
            <a:endParaRPr lang="en-GB" sz="2400" dirty="0"/>
          </a:p>
          <a:p>
            <a:r>
              <a:rPr lang="en-GB" sz="2400" dirty="0"/>
              <a:t>We apply masking in reading desired input pins, for example reading data supplied to input pins or reading switches (to check </a:t>
            </a:r>
            <a:r>
              <a:rPr lang="en-GB" sz="2400"/>
              <a:t>their statuses - </a:t>
            </a:r>
            <a:r>
              <a:rPr lang="en-GB" sz="2400" dirty="0"/>
              <a:t>if closed </a:t>
            </a:r>
            <a:r>
              <a:rPr lang="en-GB" sz="2400"/>
              <a:t>or open)</a:t>
            </a: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Swapping Nibbles</a:t>
            </a:r>
          </a:p>
          <a:p>
            <a:r>
              <a:rPr lang="en-GB" sz="2400" dirty="0"/>
              <a:t>This is done through masking followed by shifting 4 times to the right for lower nibble and to the left for upper nibble of a port</a:t>
            </a:r>
            <a:endParaRPr lang="en-Z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38C97-28AE-449C-1690-8C6F97D0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6348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837" y="262094"/>
            <a:ext cx="10515600" cy="394729"/>
          </a:xfrm>
        </p:spPr>
        <p:txBody>
          <a:bodyPr>
            <a:normAutofit fontScale="90000"/>
          </a:bodyPr>
          <a:lstStyle/>
          <a:p>
            <a:r>
              <a:rPr lang="en-ZA" dirty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8338"/>
            <a:ext cx="10515600" cy="5950039"/>
          </a:xfrm>
        </p:spPr>
        <p:txBody>
          <a:bodyPr>
            <a:normAutofit fontScale="70000" lnSpcReduction="20000"/>
          </a:bodyPr>
          <a:lstStyle/>
          <a:p>
            <a:r>
              <a:rPr lang="en-ZA" dirty="0"/>
              <a:t>Example 1:    Configure Port B as 8 channels of input with the internal pull-up resistors on.</a:t>
            </a:r>
          </a:p>
          <a:p>
            <a:r>
              <a:rPr lang="en-ZA" dirty="0"/>
              <a:t>DDRB = 0x00;                                        // set </a:t>
            </a:r>
            <a:r>
              <a:rPr lang="en-ZA" dirty="0" err="1"/>
              <a:t>PortB</a:t>
            </a:r>
            <a:r>
              <a:rPr lang="en-ZA" dirty="0"/>
              <a:t> as input with internal pull-ups on</a:t>
            </a:r>
            <a:br>
              <a:rPr lang="en-ZA" dirty="0"/>
            </a:br>
            <a:r>
              <a:rPr lang="en-ZA" dirty="0"/>
              <a:t>PORTB = 0xFF;</a:t>
            </a:r>
            <a:br>
              <a:rPr lang="en-ZA" dirty="0"/>
            </a:br>
            <a:r>
              <a:rPr lang="en-ZA" dirty="0"/>
              <a:t> </a:t>
            </a:r>
          </a:p>
          <a:p>
            <a:r>
              <a:rPr lang="en-ZA" dirty="0"/>
              <a:t>Example 2:    Configure Port B as 8 channels of input with the internal pull-up resistors off.</a:t>
            </a:r>
          </a:p>
          <a:p>
            <a:r>
              <a:rPr lang="en-ZA" dirty="0"/>
              <a:t>DDRB = 0x00;                                        // set </a:t>
            </a:r>
            <a:r>
              <a:rPr lang="en-ZA" dirty="0" err="1"/>
              <a:t>PortB</a:t>
            </a:r>
            <a:r>
              <a:rPr lang="en-ZA" dirty="0"/>
              <a:t> as input with internal pull-ups off</a:t>
            </a:r>
            <a:br>
              <a:rPr lang="en-ZA" dirty="0"/>
            </a:br>
            <a:r>
              <a:rPr lang="en-ZA" dirty="0"/>
              <a:t>PORTB = 0x00;</a:t>
            </a:r>
            <a:br>
              <a:rPr lang="en-ZA" dirty="0"/>
            </a:br>
            <a:r>
              <a:rPr lang="en-ZA" dirty="0"/>
              <a:t> </a:t>
            </a:r>
          </a:p>
          <a:p>
            <a:r>
              <a:rPr lang="en-ZA" dirty="0"/>
              <a:t>Example 3:    Configure Port B as 8 channels of output.</a:t>
            </a:r>
          </a:p>
          <a:p>
            <a:r>
              <a:rPr lang="en-ZA" dirty="0"/>
              <a:t>DDRB = 0xFF;                                        // set </a:t>
            </a:r>
            <a:r>
              <a:rPr lang="en-ZA" dirty="0" err="1"/>
              <a:t>PortB</a:t>
            </a:r>
            <a:r>
              <a:rPr lang="en-ZA" dirty="0"/>
              <a:t> for output</a:t>
            </a:r>
            <a:br>
              <a:rPr lang="en-ZA" dirty="0"/>
            </a:br>
            <a:r>
              <a:rPr lang="en-ZA" dirty="0"/>
              <a:t>PORTB = 0x00;</a:t>
            </a:r>
            <a:br>
              <a:rPr lang="en-ZA" dirty="0"/>
            </a:br>
            <a:r>
              <a:rPr lang="en-ZA" dirty="0"/>
              <a:t> </a:t>
            </a:r>
          </a:p>
          <a:p>
            <a:r>
              <a:rPr lang="en-ZA" dirty="0"/>
              <a:t>Example 4:    Configure the upper 4 bits of Port B for input with pull-up resistors and the lower 4 bits for output.</a:t>
            </a:r>
          </a:p>
          <a:p>
            <a:r>
              <a:rPr lang="en-ZA" dirty="0"/>
              <a:t>DDRB = 0x0F;                                        // set </a:t>
            </a:r>
            <a:r>
              <a:rPr lang="en-ZA" dirty="0" err="1"/>
              <a:t>PortB</a:t>
            </a:r>
            <a:r>
              <a:rPr lang="en-ZA" dirty="0"/>
              <a:t> for both input and output</a:t>
            </a:r>
            <a:br>
              <a:rPr lang="en-ZA" dirty="0"/>
            </a:br>
            <a:r>
              <a:rPr lang="en-ZA" dirty="0"/>
              <a:t>PORTB = 0xF0;                                     // upper 4 =&gt; input,  lower 4 =&gt; output</a:t>
            </a:r>
            <a:br>
              <a:rPr lang="en-ZA" dirty="0"/>
            </a:br>
            <a:r>
              <a:rPr lang="en-ZA" dirty="0"/>
              <a:t> </a:t>
            </a:r>
          </a:p>
          <a:p>
            <a:r>
              <a:rPr lang="en-ZA" dirty="0"/>
              <a:t>Example 5:    Configure the even bits to be input and the odd bits to be output.</a:t>
            </a:r>
          </a:p>
          <a:p>
            <a:r>
              <a:rPr lang="en-ZA" dirty="0"/>
              <a:t>DDRB = 0xAA;                                        // set </a:t>
            </a:r>
            <a:r>
              <a:rPr lang="en-ZA" dirty="0" err="1"/>
              <a:t>PortB</a:t>
            </a:r>
            <a:r>
              <a:rPr lang="en-ZA" dirty="0"/>
              <a:t> for both input and output</a:t>
            </a:r>
            <a:br>
              <a:rPr lang="en-ZA" dirty="0"/>
            </a:br>
            <a:r>
              <a:rPr lang="en-ZA" dirty="0"/>
              <a:t>PORTB = 0x55;                                      // pull-ups are 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A99C-FBC5-408E-AF4F-D52BA332F8A3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4598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1310</Words>
  <Application>Microsoft Office PowerPoint</Application>
  <PresentationFormat>Widescreen</PresentationFormat>
  <Paragraphs>182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Programming the ATmega328P in 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ATmega328P Architecture</dc:title>
  <dc:creator>Andrew Sibanda</dc:creator>
  <cp:lastModifiedBy>Mokesioluwa </cp:lastModifiedBy>
  <cp:revision>97</cp:revision>
  <dcterms:created xsi:type="dcterms:W3CDTF">2021-04-30T13:38:03Z</dcterms:created>
  <dcterms:modified xsi:type="dcterms:W3CDTF">2024-07-20T12:38:44Z</dcterms:modified>
</cp:coreProperties>
</file>